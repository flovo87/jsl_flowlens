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FlowLens answers a question every JMP user eventually has: somebody handed me a JSL script - what does it actually do? It reads the code statically and produces an explanation plus an animated flow you can step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deliverables from one click. The explanation and the animation are driven by the same underlying model, so they always agree with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dependency story is the reassuring part in a corporate environment: nothing is downloaded, nothing is sent anywhere, and IT does not have to approve a package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is pure text analysis - a hand-written JSL parser in Python. Stage 4 injects the JSON model into an HTML template, which is why the output has no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safety argument and the honesty argument in one. Static analysis means you can point it at a colleague's script without side effects - but branches and loop counts are inferred, never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views share one step list, so pausing in one view and switching to another keeps your position. Traceability was the feature that turned it from a toy into something usable on real scripts.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2,400 lines in three languages. The recognised-construct list is what separates a useful explanation from a list of function names - especially the Workflow Builder support, since so many JMP users produce those scripts without writing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the limits are stated openly in the tool itself, which is deliberate - a visualisation that quietly pretends to be a trace would be worse than none. The demo takes about fifteen seconds to run in front of an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JSL FlowLens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66928" y="21214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JSL script works — explained, animated, traceable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JMP add-in that reads JSL and reconstructs what it does, in which order, and where in the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3886200"/>
            <a:ext cx="4892040" cy="0"/>
          </a:xfrm>
          <a:prstGeom prst="line">
            <a:avLst/>
          </a:prstGeom>
          <a:noFill/>
          <a:ln w="19050">
            <a:solidFill>
              <a:srgbClr val="3E5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767328"/>
            <a:ext cx="237744" cy="237744"/>
          </a:xfrm>
          <a:prstGeom prst="ellipse">
            <a:avLst/>
          </a:prstGeom>
          <a:solidFill>
            <a:srgbClr val="2F6FDE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3767328"/>
            <a:ext cx="237744" cy="237744"/>
          </a:xfrm>
          <a:prstGeom prst="ellipse">
            <a:avLst/>
          </a:prstGeom>
          <a:solidFill>
            <a:srgbClr val="2F6FDE"/>
          </a:solidFill>
          <a:ln/>
        </p:spPr>
      </p:sp>
      <p:sp>
        <p:nvSpPr>
          <p:cNvPr id="8" name="Shape 6"/>
          <p:cNvSpPr/>
          <p:nvPr/>
        </p:nvSpPr>
        <p:spPr>
          <a:xfrm>
            <a:off x="3090672" y="3767328"/>
            <a:ext cx="237744" cy="237744"/>
          </a:xfrm>
          <a:prstGeom prst="ellipse">
            <a:avLst/>
          </a:prstGeom>
          <a:solidFill>
            <a:srgbClr val="2F6FDE"/>
          </a:solidFill>
          <a:ln/>
        </p:spPr>
      </p:sp>
      <p:sp>
        <p:nvSpPr>
          <p:cNvPr id="9" name="Shape 7"/>
          <p:cNvSpPr/>
          <p:nvPr/>
        </p:nvSpPr>
        <p:spPr>
          <a:xfrm>
            <a:off x="4352544" y="3767328"/>
            <a:ext cx="237744" cy="237744"/>
          </a:xfrm>
          <a:prstGeom prst="ellipse">
            <a:avLst/>
          </a:prstGeom>
          <a:solidFill>
            <a:srgbClr val="2F6FDE"/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3767328"/>
            <a:ext cx="237744" cy="23774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v0.2.3   ·   2026-07-30   ·   MIT licence   ·   JMP 18+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JSL — it reconstructs the story of the script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anything JSL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.jsl file · several files with Include() · a complete .jmpaddin · or code pasted straight into the dialog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48716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out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execution starts, which function calls which, what happens to data tables, windows and files — and in what order.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one standalone HTML page — shareable, works offline.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1188720"/>
            <a:ext cx="2194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87952" y="1371600"/>
            <a:ext cx="310896" cy="310896"/>
          </a:xfrm>
          <a:prstGeom prst="ellipse">
            <a:avLst/>
          </a:prstGeom>
          <a:solidFill>
            <a:srgbClr val="2F6FDE"/>
          </a:solidFill>
          <a:ln/>
        </p:spPr>
      </p:sp>
      <p:sp>
        <p:nvSpPr>
          <p:cNvPr id="9" name="Text 7"/>
          <p:cNvSpPr/>
          <p:nvPr/>
        </p:nvSpPr>
        <p:spPr>
          <a:xfrm>
            <a:off x="4187952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3350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87952" y="19385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as a sentence, in EN or 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188720"/>
            <a:ext cx="2194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56832" y="1371600"/>
            <a:ext cx="310896" cy="310896"/>
          </a:xfrm>
          <a:prstGeom prst="ellipse">
            <a:avLst/>
          </a:prstGeom>
          <a:solidFill>
            <a:srgbClr val="2F6FDE"/>
          </a:solidFill>
          <a:ln/>
        </p:spPr>
      </p:sp>
      <p:sp>
        <p:nvSpPr>
          <p:cNvPr id="14" name="Text 12"/>
          <p:cNvSpPr/>
          <p:nvPr/>
        </p:nvSpPr>
        <p:spPr>
          <a:xfrm>
            <a:off x="6656832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13350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56832" y="19385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Play, pause, step through the run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2788920"/>
            <a:ext cx="2194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87952" y="2971800"/>
            <a:ext cx="310896" cy="310896"/>
          </a:xfrm>
          <a:prstGeom prst="ellipse">
            <a:avLst/>
          </a:prstGeom>
          <a:solidFill>
            <a:srgbClr val="2F6FDE"/>
          </a:solidFill>
          <a:ln/>
        </p:spPr>
      </p:sp>
      <p:sp>
        <p:nvSpPr>
          <p:cNvPr id="19" name="Text 17"/>
          <p:cNvSpPr/>
          <p:nvPr/>
        </p:nvSpPr>
        <p:spPr>
          <a:xfrm>
            <a:off x="4187952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9352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flowchart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87952" y="35387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loops, I/O shapes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2788920"/>
            <a:ext cx="2194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56832" y="2971800"/>
            <a:ext cx="310896" cy="310896"/>
          </a:xfrm>
          <a:prstGeom prst="ellipse">
            <a:avLst/>
          </a:prstGeom>
          <a:solidFill>
            <a:srgbClr val="2F6FDE"/>
          </a:solidFill>
          <a:ln/>
        </p:spPr>
      </p:sp>
      <p:sp>
        <p:nvSpPr>
          <p:cNvPr id="24" name="Text 22"/>
          <p:cNvSpPr/>
          <p:nvPr/>
        </p:nvSpPr>
        <p:spPr>
          <a:xfrm>
            <a:off x="6656832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29352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to source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56832" y="35387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shows file : 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needs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requirements — and nothing to install beyond the add-in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84632" y="1207008"/>
            <a:ext cx="2514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371600"/>
            <a:ext cx="329184" cy="329184"/>
          </a:xfrm>
          <a:prstGeom prst="ellipse">
            <a:avLst/>
          </a:prstGeom>
          <a:solidFill>
            <a:srgbClr val="2F6FDE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8136" y="137160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JMP 18 or newer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like any add-in: double-click the .jmpaddin file. Adds one menu entry.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207008"/>
            <a:ext cx="2514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02152" y="1371600"/>
            <a:ext cx="329184" cy="32918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22776" y="137160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JMP's Python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2152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parser runs on the Python built into JMP — included since JMP 18, with no setup step.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53912" y="1207008"/>
            <a:ext cx="2514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36792" y="1371600"/>
            <a:ext cx="329184" cy="329184"/>
          </a:xfrm>
          <a:prstGeom prst="ellipse">
            <a:avLst/>
          </a:prstGeom>
          <a:solidFill>
            <a:srgbClr val="2E9960"/>
          </a:solidFill>
          <a:ln/>
        </p:spPr>
      </p:sp>
      <p:sp>
        <p:nvSpPr>
          <p:cNvPr id="16" name="Text 14"/>
          <p:cNvSpPr/>
          <p:nvPr/>
        </p:nvSpPr>
        <p:spPr>
          <a:xfrm>
            <a:off x="633679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57416" y="137160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web browser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36792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opens as a local HTML file. No server, no plug-in, no login.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" y="2926080"/>
            <a:ext cx="8174736" cy="932688"/>
          </a:xfrm>
          <a:prstGeom prst="roundRect">
            <a:avLst>
              <a:gd name="adj" fmla="val 5882"/>
            </a:avLst>
          </a:prstGeom>
          <a:solidFill>
            <a:srgbClr val="E7F4EC"/>
          </a:solidFill>
          <a:ln w="9525">
            <a:solidFill>
              <a:srgbClr val="BFE0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dependencies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34670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standard library only — no pip installs, no internet access, no CDN scripts in the generated page. Everything runs on the machine, and the HTML keeps working when you e-mail it to someone.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" y="4041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F6F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124712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packages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19272" y="4041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F6F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959352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scripts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53912" y="4041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F6F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793992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file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four stages — all local, all on demand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7830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6152" y="1536192"/>
            <a:ext cx="365760" cy="365760"/>
          </a:xfrm>
          <a:prstGeom prst="ellipse">
            <a:avLst/>
          </a:prstGeom>
          <a:solidFill>
            <a:srgbClr val="2F6FDE"/>
          </a:solidFill>
          <a:ln/>
        </p:spPr>
      </p:sp>
      <p:sp>
        <p:nvSpPr>
          <p:cNvPr id="6" name="Text 4"/>
          <p:cNvSpPr/>
          <p:nvPr/>
        </p:nvSpPr>
        <p:spPr>
          <a:xfrm>
            <a:off x="1216152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add-in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pasted code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50008" y="2057400"/>
            <a:ext cx="219456" cy="201168"/>
          </a:xfrm>
          <a:prstGeom prst="rightArrow">
            <a:avLst/>
          </a:prstGeom>
          <a:solidFill>
            <a:srgbClr val="C3CDE0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1371600"/>
            <a:ext cx="17830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536192"/>
            <a:ext cx="365760" cy="36576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19659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 text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53128" y="2057400"/>
            <a:ext cx="219456" cy="201168"/>
          </a:xfrm>
          <a:prstGeom prst="rightArrow">
            <a:avLst/>
          </a:prstGeom>
          <a:solidFill>
            <a:srgbClr val="C3CDE0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9160" y="1371600"/>
            <a:ext cx="17830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22392" y="1536192"/>
            <a:ext cx="365760" cy="365760"/>
          </a:xfrm>
          <a:prstGeom prst="ellipse">
            <a:avLst/>
          </a:prstGeom>
          <a:solidFill>
            <a:srgbClr val="2F6FDE"/>
          </a:solidFill>
          <a:ln/>
        </p:spPr>
      </p:sp>
      <p:sp>
        <p:nvSpPr>
          <p:cNvPr id="18" name="Text 16"/>
          <p:cNvSpPr/>
          <p:nvPr/>
        </p:nvSpPr>
        <p:spPr>
          <a:xfrm>
            <a:off x="5422392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19659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calls, effects,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numbers → JSON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56248" y="2057400"/>
            <a:ext cx="219456" cy="201168"/>
          </a:xfrm>
          <a:prstGeom prst="rightArrow">
            <a:avLst/>
          </a:prstGeom>
          <a:solidFill>
            <a:srgbClr val="C3CDE0"/>
          </a:solidFill>
          <a:ln/>
        </p:spPr>
      </p:sp>
      <p:sp>
        <p:nvSpPr>
          <p:cNvPr id="22" name="Shape 20"/>
          <p:cNvSpPr/>
          <p:nvPr/>
        </p:nvSpPr>
        <p:spPr>
          <a:xfrm>
            <a:off x="6812280" y="1371600"/>
            <a:ext cx="17830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25512" y="1536192"/>
            <a:ext cx="365760" cy="365760"/>
          </a:xfrm>
          <a:prstGeom prst="ellipse">
            <a:avLst/>
          </a:prstGeom>
          <a:solidFill>
            <a:srgbClr val="2E9960"/>
          </a:solidFill>
          <a:ln/>
        </p:spPr>
      </p:sp>
      <p:sp>
        <p:nvSpPr>
          <p:cNvPr id="24" name="Text 22"/>
          <p:cNvSpPr/>
          <p:nvPr/>
        </p:nvSpPr>
        <p:spPr>
          <a:xfrm>
            <a:off x="7525512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19659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standalone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200400"/>
            <a:ext cx="81381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31012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the single source of truth.  </a:t>
            </a:r>
            <a:pPr indent="0" marL="0">
              <a:buNone/>
            </a:pPr>
            <a:r>
              <a:rPr lang="en-US" sz="11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Explanation, animation, flowchart and storyboard are four renderings of the same parsed structure — which is why the sentence, the highlighted node and the code extract always refer to the same step.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42245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run: a 3-file demo → 28 steps → a 64 KB HTML page, in under a second.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executed — and what is not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do the work; your script is not one of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80744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2F6FDE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38074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335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JMP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71600" y="1591056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add-in dialog: pick files, choose options, hand the paths to Python, open the result. ~850 lines of JSL.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8138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295144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29514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249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JMP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71600" y="2505456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parser: reads your code as text, finds functions, calls, loops and side effects, writes the model. ~640 lines, stdlib only.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35808"/>
            <a:ext cx="8138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209544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2E996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20954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71600" y="3419856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page: animation, flowchart, storyboard, code viewer. ~870 lines of HTML/CSS/JS, all inlined.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DF2E3"/>
          </a:solidFill>
          <a:ln w="9525">
            <a:solidFill>
              <a:srgbClr val="F0C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7822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script is never run.  </a:t>
            </a:r>
            <a:pPr indent="0" marL="0">
              <a:buNone/>
            </a:pPr>
            <a:r>
              <a:rPr lang="en-US" sz="1150" dirty="0">
                <a:solidFill>
                  <a:srgbClr val="8A5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FlowLens reads JSL the way a reader does — no data tables are created, no windows opened, no files written. Safe on scripts you do not trust yet. The flip side: the order shown is inferred, not observed.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views, one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freely — the current step stays in sync across all of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84632" y="1207008"/>
            <a:ext cx="25146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371600"/>
            <a:ext cx="1051560" cy="310896"/>
          </a:xfrm>
          <a:prstGeom prst="roundRect">
            <a:avLst>
              <a:gd name="adj" fmla="val 11765"/>
            </a:avLst>
          </a:prstGeom>
          <a:solidFill>
            <a:srgbClr val="2F6FDE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7512" y="181051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lane per file, functions as nodes. Nodes light up in execution order, call arrows animate.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1207008"/>
            <a:ext cx="25146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02152" y="1371600"/>
            <a:ext cx="1051560" cy="310896"/>
          </a:xfrm>
          <a:prstGeom prst="roundRect">
            <a:avLst>
              <a:gd name="adj" fmla="val 11765"/>
            </a:avLst>
          </a:prstGeom>
          <a:solidFill>
            <a:srgbClr val="D98324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13716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02152" y="181051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shapes: diamonds for decisions, parallelograms for I/O, loop-back arrows for repetition.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53912" y="1207008"/>
            <a:ext cx="25146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1371600"/>
            <a:ext cx="1051560" cy="310896"/>
          </a:xfrm>
          <a:prstGeom prst="roundRect">
            <a:avLst>
              <a:gd name="adj" fmla="val 11765"/>
            </a:avLst>
          </a:prstGeom>
          <a:solidFill>
            <a:srgbClr val="2E9960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13716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36792" y="181051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as numbered cards in plain language — the version to hand to a non-programmer.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" y="3127248"/>
            <a:ext cx="817473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552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— the part people ask for first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358444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carries its </a:t>
            </a:r>
            <a:pPr indent="0" marL="0">
              <a:buNone/>
            </a:pPr>
            <a:r>
              <a:rPr lang="en-US" sz="115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: line</a:t>
            </a:r>
            <a:pPr indent="0" marL="0">
              <a:buNone/>
            </a:pPr>
            <a:r>
              <a:rPr lang="en-US" sz="11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Clicking it opens the exact code extract — or the complete script with those lines highlighted and scrolled into view. Calls additionally jump to the called function's definition.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written in, what it reads, and what it speaks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84632" y="1188720"/>
            <a:ext cx="39776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773936"/>
            <a:ext cx="146304" cy="146304"/>
          </a:xfrm>
          <a:prstGeom prst="ellipse">
            <a:avLst/>
          </a:prstGeom>
          <a:solidFill>
            <a:srgbClr val="2F6FDE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70078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86000" y="1700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dialog, Python bridge, packaging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95344" y="17007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2249424"/>
            <a:ext cx="146304" cy="14630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217627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86000" y="21762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and model builder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95344" y="21762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2724912"/>
            <a:ext cx="146304" cy="146304"/>
          </a:xfrm>
          <a:prstGeom prst="ellipse">
            <a:avLst/>
          </a:prstGeom>
          <a:solidFill>
            <a:srgbClr val="2E9960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26517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86000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visualisation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95344" y="2651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28895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81728" y="1188720"/>
            <a:ext cx="39776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BB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0328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&amp; speaks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10328" y="1700784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Analyses:  </a:t>
            </a:r>
            <a:pPr indent="0" marL="0">
              <a:buNone/>
            </a:pPr>
            <a:r>
              <a:rPr lang="en-US" sz="11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 — hand-written scripts, multi-file applications, packaged add-ins, and Workflow Builder exports (the step_name convention is recognised and used as narration).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0328" y="248716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explanations:  </a:t>
            </a:r>
            <a:pPr indent="0" marL="0">
              <a:buNone/>
            </a:pPr>
            <a:r>
              <a:rPr lang="en-US" sz="11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German, switchable in the header and in the generated page. Further languages are additive — one table per language.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parser recognises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75888"/>
            <a:ext cx="1786738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75888"/>
            <a:ext cx="1786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expressions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99386" y="3675888"/>
            <a:ext cx="1287475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99386" y="3675888"/>
            <a:ext cx="12874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Include() chains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96589" y="3675888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6589" y="36758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09237" y="3675888"/>
            <a:ext cx="788213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9237" y="3675888"/>
            <a:ext cx="7882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07178" y="3675888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7178" y="36758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19826" y="3675888"/>
            <a:ext cx="1144829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19826" y="3675888"/>
            <a:ext cx="11448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steps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174382" y="3675888"/>
            <a:ext cx="930859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4382" y="3675888"/>
            <a:ext cx="930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4059936"/>
            <a:ext cx="645566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059936"/>
            <a:ext cx="6455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258214" y="4059936"/>
            <a:ext cx="645566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58214" y="4059936"/>
            <a:ext cx="6455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013509" y="4059936"/>
            <a:ext cx="716890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3509" y="4059936"/>
            <a:ext cx="71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840126" y="4059936"/>
            <a:ext cx="1501445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40126" y="4059936"/>
            <a:ext cx="15014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report platforms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451299" y="4059936"/>
            <a:ext cx="1287475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51299" y="4059936"/>
            <a:ext cx="12874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operations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48502" y="4059936"/>
            <a:ext cx="1002182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48502" y="4059936"/>
            <a:ext cx="10021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messages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60413" y="4059936"/>
            <a:ext cx="574243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60413" y="4059936"/>
            <a:ext cx="5742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2920" y="4443984"/>
            <a:ext cx="1430122" cy="292608"/>
          </a:xfrm>
          <a:prstGeom prst="roundRect">
            <a:avLst>
              <a:gd name="adj" fmla="val 50000"/>
            </a:avLst>
          </a:prstGeom>
          <a:solidFill>
            <a:srgbClr val="E4EDFC"/>
          </a:solidFill>
          <a:ln w="6350">
            <a:solidFill>
              <a:srgbClr val="C9DB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443984"/>
            <a:ext cx="14301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variables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 — and 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77640" cy="2514600"/>
          </a:xfrm>
          <a:prstGeom prst="roundRect">
            <a:avLst>
              <a:gd name="adj" fmla="val 2182"/>
            </a:avLst>
          </a:prstGeom>
          <a:solidFill>
            <a:srgbClr val="24365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6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flow, not a runtime trace — the page says so, on every screen.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2219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6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of a decision are walked; loops are shown once with a repeat marker.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7066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6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scripts stop at 400 steps (helpers are folded away first).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1912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6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code that parses: a broken script gives a clear error, not a diagram.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1234440"/>
            <a:ext cx="3977640" cy="2514600"/>
          </a:xfrm>
          <a:prstGeom prst="roundRect">
            <a:avLst>
              <a:gd name="adj" fmla="val 2182"/>
            </a:avLst>
          </a:prstGeom>
          <a:solidFill>
            <a:srgbClr val="24365C"/>
          </a:solidFill>
          <a:ln/>
        </p:spPr>
      </p:sp>
      <p:sp>
        <p:nvSpPr>
          <p:cNvPr id="10" name="Text 8"/>
          <p:cNvSpPr/>
          <p:nvPr/>
        </p:nvSpPr>
        <p:spPr>
          <a:xfrm>
            <a:off x="4956048" y="1371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D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56048" y="1737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6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decision to follow the other branch ("what-if" stepping).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56048" y="22219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6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runtime trace mode for scripts you do trust.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56048" y="27066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6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interface languages — the table is built to be extended.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6048" y="31912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6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release: MIT licence, JMP Marketplace.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8156448" cy="658368"/>
          </a:xfrm>
          <a:prstGeom prst="roundRect">
            <a:avLst>
              <a:gd name="adj" fmla="val 8333"/>
            </a:avLst>
          </a:prstGeom>
          <a:solidFill>
            <a:srgbClr val="2F6FD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977640"/>
            <a:ext cx="8156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 Add-Ins  &gt;  JSL FlowLens  &gt;  Load demo  &gt;  Analyze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JSL FlowLens - how it works</dc:title>
  <dc:subject>PptxGenJS Presentation</dc:subject>
  <dc:creator>Florian</dc:creator>
  <cp:lastModifiedBy>Florian</cp:lastModifiedBy>
  <cp:revision>1</cp:revision>
  <dcterms:created xsi:type="dcterms:W3CDTF">2026-07-31T10:35:41Z</dcterms:created>
  <dcterms:modified xsi:type="dcterms:W3CDTF">2026-07-31T10:35:41Z</dcterms:modified>
</cp:coreProperties>
</file>